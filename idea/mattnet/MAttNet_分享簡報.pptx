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1A2A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RefCOCO</c:v>
                  </c:pt>
                  <c:pt idx="1">
                    <c:v>RefCOCO+</c:v>
                  </c:pt>
                  <c:pt idx="2">
                    <c:v>RefCOCOg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85.65</c:v>
                </c:pt>
                <c:pt idx="1">
                  <c:v>71.01</c:v>
                </c:pt>
                <c:pt idx="2">
                  <c:v>78.1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testA / test</c:v>
                </c:pt>
              </c:strCache>
            </c:strRef>
          </c:tx>
          <c:spPr>
            <a:solidFill>
              <a:srgbClr val="21A0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1A2A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RefCOCO</c:v>
                  </c:pt>
                  <c:pt idx="1">
                    <c:v>RefCOCO+</c:v>
                  </c:pt>
                  <c:pt idx="2">
                    <c:v>RefCOCOg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85.26</c:v>
                </c:pt>
                <c:pt idx="1">
                  <c:v>75.13</c:v>
                </c:pt>
                <c:pt idx="2">
                  <c:v>78.12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testB</c:v>
                </c:pt>
              </c:strCache>
            </c:strRef>
          </c:tx>
          <c:spPr>
            <a:solidFill>
              <a:srgbClr val="5FD0C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1A2A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RefCOCO</c:v>
                  </c:pt>
                  <c:pt idx="1">
                    <c:v>RefCOCO+</c:v>
                  </c:pt>
                  <c:pt idx="2">
                    <c:v>RefCOCOg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84.57</c:v>
                </c:pt>
                <c:pt idx="1">
                  <c:v>66.17</c:v>
                </c:pt>
                <c:pt idx="2">
                  <c:v/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900" u="none">
                  <a:solidFill>
                    <a:srgbClr val="1A2A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A2A38"/>
                </a:solidFill>
                <a:latin typeface="Microsoft Jheng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5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A2A3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RefCOCO val (%)</c:v>
                </c:pt>
              </c:strCache>
            </c:strRef>
          </c:tx>
          <c:spPr>
            <a:solidFill>
              <a:srgbClr val="21A0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B1F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baseline
(subj+loc)</c:v>
                  </c:pt>
                  <c:pt idx="1">
                    <c:v>MAttNet
(subj+loc)</c:v>
                  </c:pt>
                  <c:pt idx="2">
                    <c:v>+loc(dif)</c:v>
                  </c:pt>
                  <c:pt idx="3">
                    <c:v>+rel</c:v>
                  </c:pt>
                  <c:pt idx="4">
                    <c:v>+attr</c:v>
                  </c:pt>
                  <c:pt idx="5">
                    <c:v>+attn
(完整)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79.14</c:v>
                </c:pt>
                <c:pt idx="1">
                  <c:v>79.68</c:v>
                </c:pt>
                <c:pt idx="2">
                  <c:v>82.06</c:v>
                </c:pt>
                <c:pt idx="3">
                  <c:v>82.54</c:v>
                </c:pt>
                <c:pt idx="4">
                  <c:v>83.54</c:v>
                </c:pt>
                <c:pt idx="5">
                  <c:v>85.65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0B1F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A38"/>
                </a:solidFill>
                <a:latin typeface="Microsoft Jheng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7"/>
          <c:min val="76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MAttNet</c:v>
                </c:pt>
              </c:strCache>
            </c:strRef>
          </c:tx>
          <c:spPr>
            <a:solidFill>
              <a:srgbClr val="21A0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B1F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RefCOCO val</c:v>
                  </c:pt>
                  <c:pt idx="1">
                    <c:v>RefCOCO testA</c:v>
                  </c:pt>
                  <c:pt idx="2">
                    <c:v>RefCOCO+ val</c:v>
                  </c:pt>
                  <c:pt idx="3">
                    <c:v>RefCOCO+ testA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56.51</c:v>
                </c:pt>
                <c:pt idx="1">
                  <c:v>62.37</c:v>
                </c:pt>
                <c:pt idx="2">
                  <c:v>46.67</c:v>
                </c:pt>
                <c:pt idx="3">
                  <c:v>52.39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前作 (D+RMI+DCRF)</c:v>
                </c:pt>
              </c:strCache>
            </c:strRef>
          </c:tx>
          <c:spPr>
            <a:solidFill>
              <a:srgbClr val="B9C7D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B1F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RefCOCO val</c:v>
                  </c:pt>
                  <c:pt idx="1">
                    <c:v>RefCOCO testA</c:v>
                  </c:pt>
                  <c:pt idx="2">
                    <c:v>RefCOCO+ val</c:v>
                  </c:pt>
                  <c:pt idx="3">
                    <c:v>RefCOCO+ testA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45.18</c:v>
                </c:pt>
                <c:pt idx="1">
                  <c:v>45.69</c:v>
                </c:pt>
                <c:pt idx="2">
                  <c:v>29.86</c:v>
                </c:pt>
                <c:pt idx="3">
                  <c:v>30.48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900" u="none">
                  <a:solidFill>
                    <a:srgbClr val="0B1F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2A38"/>
                </a:solidFill>
                <a:latin typeface="Microsoft Jheng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A2A3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1A0A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7955280" y="1554480"/>
            <a:ext cx="3200400" cy="2194560"/>
          </a:xfrm>
          <a:prstGeom prst="rect">
            <a:avLst/>
          </a:prstGeom>
          <a:ln w="31750">
            <a:solidFill>
              <a:srgbClr val="5FD0C5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8001000" y="37947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FD0C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 woman in red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5FD0C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on the left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5146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FD0C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CVPR 2018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49808" y="17830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MAttNet</a:t>
            </a:r>
            <a:endParaRPr lang="en-US" sz="6400" dirty="0"/>
          </a:p>
        </p:txBody>
      </p:sp>
      <p:sp>
        <p:nvSpPr>
          <p:cNvPr id="9" name="Text 6"/>
          <p:cNvSpPr/>
          <p:nvPr/>
        </p:nvSpPr>
        <p:spPr>
          <a:xfrm>
            <a:off x="822960" y="288036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CFE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Modular Attention Network for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CFE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Referring Expression Comprehension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22960" y="3977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FD0C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模組化注意力網路：把一句指代描述拆成「外觀／位置／關係」三模組，分而治之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5212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FE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Licheng Yu · Zhe Lin · Xiaohui Shen · Jimei Yang · Xin Lu · Mohit Bansal · Tamara L. Berg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FE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arXiv:1801.08186 · UNC Chapel Hill / Adobe Research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713232"/>
          </a:xfrm>
          <a:prstGeom prst="rect">
            <a:avLst/>
          </a:prstGeom>
          <a:solidFill>
            <a:srgbClr val="21A0A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754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 TASK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94944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任務：指代表達理解 (REC)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13232" y="14173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2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給一張影像 + 一句自然語言描述，模型要在圖中定位出「唯一對應」的那個物件（輸出框，或進一步輸出 mask）。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13232" y="2286000"/>
            <a:ext cx="32004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2286000"/>
            <a:ext cx="3200400" cy="457200"/>
          </a:xfrm>
          <a:prstGeom prst="rect">
            <a:avLst/>
          </a:prstGeom>
          <a:solidFill>
            <a:srgbClr val="12345C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2286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05840" y="2971800"/>
            <a:ext cx="2615184" cy="1463040"/>
          </a:xfrm>
          <a:prstGeom prst="rect">
            <a:avLst/>
          </a:prstGeom>
          <a:solidFill>
            <a:srgbClr val="EAF1F4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56616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影像 (一群人)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4572000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「the woman in red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on the left」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023360" y="347472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21A0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➜</a:t>
            </a:r>
            <a:endParaRPr lang="en-US" sz="4000" dirty="0"/>
          </a:p>
        </p:txBody>
      </p:sp>
      <p:sp>
        <p:nvSpPr>
          <p:cNvPr id="13" name="Shape 11"/>
          <p:cNvSpPr/>
          <p:nvPr/>
        </p:nvSpPr>
        <p:spPr>
          <a:xfrm>
            <a:off x="4892040" y="3017520"/>
            <a:ext cx="2377440" cy="1645920"/>
          </a:xfrm>
          <a:prstGeom prst="rect">
            <a:avLst/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3291840"/>
            <a:ext cx="548640" cy="5486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892040" y="3886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MAttNet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892040" y="4224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D0C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候選框排序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360920" y="347472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21A0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➜</a:t>
            </a:r>
            <a:endParaRPr lang="en-US" sz="4000" dirty="0"/>
          </a:p>
        </p:txBody>
      </p:sp>
      <p:sp>
        <p:nvSpPr>
          <p:cNvPr id="18" name="Shape 15"/>
          <p:cNvSpPr/>
          <p:nvPr/>
        </p:nvSpPr>
        <p:spPr>
          <a:xfrm>
            <a:off x="8229600" y="2286000"/>
            <a:ext cx="32004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229600" y="2286000"/>
            <a:ext cx="3200400" cy="457200"/>
          </a:xfrm>
          <a:prstGeom prst="rect">
            <a:avLst/>
          </a:prstGeom>
          <a:solidFill>
            <a:srgbClr val="21A0A0"/>
          </a:solidFill>
          <a:ln/>
        </p:spPr>
      </p:sp>
      <p:sp>
        <p:nvSpPr>
          <p:cNvPr id="20" name="Text 17"/>
          <p:cNvSpPr/>
          <p:nvPr/>
        </p:nvSpPr>
        <p:spPr>
          <a:xfrm>
            <a:off x="8229600" y="2286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8522208" y="2971800"/>
            <a:ext cx="2615184" cy="1463040"/>
          </a:xfrm>
          <a:prstGeom prst="rect">
            <a:avLst/>
          </a:prstGeom>
          <a:solidFill>
            <a:srgbClr val="EAF1F4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869680" y="3154680"/>
            <a:ext cx="1005840" cy="1143000"/>
          </a:xfrm>
          <a:prstGeom prst="rect">
            <a:avLst/>
          </a:prstGeom>
          <a:ln w="38100">
            <a:solidFill>
              <a:srgbClr val="F2B70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522208" y="4572000"/>
            <a:ext cx="2615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命中正確的女人 (IoU ≥ 0.5)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13232" y="56235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與相鄰任務的差別：  </a:t>
            </a:r>
            <a:pPr algn="l"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物件偵測</a:t>
            </a:r>
            <a:pPr algn="l" indent="0" marL="0">
              <a:buNone/>
            </a:pPr>
            <a:r>
              <a:rPr lang="en-US" sz="1250" dirty="0">
                <a:solidFill>
                  <a:srgbClr val="5A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=找出所有某類物件 (不分哪一個)  ·  </a:t>
            </a:r>
            <a:pPr algn="l"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影像描述</a:t>
            </a:r>
            <a:pPr algn="l" indent="0" marL="0">
              <a:buNone/>
            </a:pPr>
            <a:r>
              <a:rPr lang="en-US" sz="1250" dirty="0">
                <a:solidFill>
                  <a:srgbClr val="5A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=生成句子 (非定位)  ·  </a:t>
            </a:r>
            <a:pPr algn="l" indent="0" marL="0">
              <a:buNone/>
            </a:pPr>
            <a:r>
              <a:rPr lang="en-US" sz="1250" b="1" dirty="0">
                <a:solidFill>
                  <a:srgbClr val="21A0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REC</a:t>
            </a:r>
            <a:pPr algn="l" indent="0" marL="0">
              <a:buNone/>
            </a:pPr>
            <a:r>
              <a:rPr lang="en-US" sz="1250" dirty="0">
                <a:solidFill>
                  <a:srgbClr val="5A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=給句子→定位唯一物件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MAttNet · CVPR 2018 · 論文導讀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713232"/>
          </a:xfrm>
          <a:prstGeom prst="rect">
            <a:avLst/>
          </a:prstGeom>
          <a:solidFill>
            <a:srgbClr val="21A0A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754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94944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核心洞見：為什麼要「模組化」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13232" y="14173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過去做法：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2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把整句話編碼成 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一個向量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2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去跟影像比對。問題是——一句指代描述其實是 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21A0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異質資訊的混合體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2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13232" y="2240280"/>
            <a:ext cx="345643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2240280"/>
            <a:ext cx="3456432" cy="91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2532888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" y="2670048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64792" y="2606040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主體外觀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987552" y="3383280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"red cat" / "man with glasses"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87552" y="3886200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看框「內部」的顏色、類別、屬性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379976" y="2240280"/>
            <a:ext cx="345643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79976" y="2240280"/>
            <a:ext cx="3456432" cy="91440"/>
          </a:xfrm>
          <a:prstGeom prst="rect">
            <a:avLst/>
          </a:prstGeom>
          <a:solidFill>
            <a:srgbClr val="21A0A0"/>
          </a:solidFill>
          <a:ln/>
        </p:spPr>
      </p:sp>
      <p:sp>
        <p:nvSpPr>
          <p:cNvPr id="15" name="Shape 12"/>
          <p:cNvSpPr/>
          <p:nvPr/>
        </p:nvSpPr>
        <p:spPr>
          <a:xfrm>
            <a:off x="4654296" y="2532888"/>
            <a:ext cx="640080" cy="640080"/>
          </a:xfrm>
          <a:prstGeom prst="ellipse">
            <a:avLst/>
          </a:prstGeom>
          <a:solidFill>
            <a:srgbClr val="21A0A0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2670048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431536" y="2606040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絕對位置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4654296" y="3383280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21A0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"on the left" / "top corner"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4654296" y="3886200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看框在整張圖的座標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8046720" y="2240280"/>
            <a:ext cx="345643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046720" y="2240280"/>
            <a:ext cx="3456432" cy="91440"/>
          </a:xfrm>
          <a:prstGeom prst="rect">
            <a:avLst/>
          </a:prstGeom>
          <a:solidFill>
            <a:srgbClr val="12345C"/>
          </a:solidFill>
          <a:ln/>
        </p:spPr>
      </p:sp>
      <p:sp>
        <p:nvSpPr>
          <p:cNvPr id="22" name="Shape 18"/>
          <p:cNvSpPr/>
          <p:nvPr/>
        </p:nvSpPr>
        <p:spPr>
          <a:xfrm>
            <a:off x="8321040" y="2532888"/>
            <a:ext cx="640080" cy="640080"/>
          </a:xfrm>
          <a:prstGeom prst="ellipse">
            <a:avLst/>
          </a:prstGeom>
          <a:solidFill>
            <a:srgbClr val="12345C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670048"/>
            <a:ext cx="365760" cy="3657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098280" y="2606040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物件關係</a:t>
            </a:r>
            <a:endParaRPr lang="en-US" sz="2000" dirty="0"/>
          </a:p>
        </p:txBody>
      </p:sp>
      <p:sp>
        <p:nvSpPr>
          <p:cNvPr id="25" name="Text 20"/>
          <p:cNvSpPr/>
          <p:nvPr/>
        </p:nvSpPr>
        <p:spPr>
          <a:xfrm>
            <a:off x="8321040" y="3383280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23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"dog next to the table"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8321040" y="3886200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看框「外部」周圍的其他物件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713232" y="4892040"/>
            <a:ext cx="10744200" cy="1143000"/>
          </a:xfrm>
          <a:prstGeom prst="rect">
            <a:avLst/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212080"/>
            <a:ext cx="502920" cy="5029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645920" y="50749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2B70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主張：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與其用一個大模型硬吃整句，不如拆成三個各司其職的模組，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FD0C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並讓模型自己學會「哪些字餵給哪個模組、每模組佔多少權重」。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MAttNet · CVPR 2018 · 論文導讀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713232"/>
          </a:xfrm>
          <a:prstGeom prst="rect">
            <a:avLst/>
          </a:prstGeom>
          <a:solidFill>
            <a:srgbClr val="5FD0C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754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D0C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94944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整體架構：語言網路 + 三視覺模組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600200"/>
            <a:ext cx="4754880" cy="1783080"/>
          </a:xfrm>
          <a:prstGeom prst="rect">
            <a:avLst/>
          </a:prstGeom>
          <a:solidFill>
            <a:srgbClr val="12345C"/>
          </a:solidFill>
          <a:ln w="19050">
            <a:solidFill>
              <a:srgbClr val="21A0A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7830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783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語言注意力網路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97280" y="233172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CFE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bi-LSTM 編碼每個詞</a:t>
            </a:r>
            <a:endParaRPr lang="en-US" sz="11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CFE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三組詞注意力 → q^subj / q^loc / q^rel</a:t>
            </a:r>
            <a:endParaRPr lang="en-US" sz="11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CFE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模組權重 w_subj / w_loc / w_rel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22960" y="34564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FD0C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表達式 r："woman in red, left"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583680" y="1600200"/>
            <a:ext cx="4754880" cy="1783080"/>
          </a:xfrm>
          <a:prstGeom prst="rect">
            <a:avLst/>
          </a:prstGeom>
          <a:solidFill>
            <a:srgbClr val="12345C"/>
          </a:solidFill>
          <a:ln w="19050">
            <a:solidFill>
              <a:srgbClr val="21A0A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7830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1783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視覺骨幹 (Faster R-CNN + ResNet-101)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858000" y="233172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CFE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候選物件 o_i 的區域特徵</a:t>
            </a:r>
            <a:endParaRPr lang="en-US" sz="11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CFE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C3 = 低階線索 (顏色、形狀)</a:t>
            </a:r>
            <a:endParaRPr lang="en-US" sz="11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CFE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C4 = 高階線索 (物件類別語意)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22960" y="4023360"/>
            <a:ext cx="3429000" cy="137160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822960" y="418795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Subject 模組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822960" y="459028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框內注意力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外觀 + 屬性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507992" y="4023360"/>
            <a:ext cx="3429000" cy="1371600"/>
          </a:xfrm>
          <a:prstGeom prst="rect">
            <a:avLst/>
          </a:prstGeom>
          <a:solidFill>
            <a:srgbClr val="21A0A0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4507992" y="418795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Location 模組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4507992" y="459028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絕對 + 相對位置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(5維 + 鄰居位移)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8193024" y="4023360"/>
            <a:ext cx="3429000" cy="1371600"/>
          </a:xfrm>
          <a:prstGeom prst="rect">
            <a:avLst/>
          </a:prstGeom>
          <a:solidFill>
            <a:srgbClr val="2E6E8E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8193024" y="418795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Relationship 模組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8193024" y="459028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框外注意力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鄰居 MIL (max)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822960" y="5715000"/>
            <a:ext cx="10515600" cy="841248"/>
          </a:xfrm>
          <a:prstGeom prst="rect">
            <a:avLst/>
          </a:prstGeom>
          <a:solidFill>
            <a:srgbClr val="F2B705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822960" y="5715000"/>
            <a:ext cx="10515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加權合併:   S(o_i | r) = w_subj·S(·|q^subj) + w_loc·S(·|q^loc) + w_rel·S(·|q^rel)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713232"/>
          </a:xfrm>
          <a:prstGeom prst="rect">
            <a:avLst/>
          </a:prstGeom>
          <a:solidFill>
            <a:srgbClr val="21A0A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754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LANGUAGE SIDE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94944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語言注意力網路：學出來的「軟性 parser」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13232" y="1463040"/>
            <a:ext cx="548640" cy="548640"/>
          </a:xfrm>
          <a:prstGeom prst="ellipse">
            <a:avLst/>
          </a:prstGeom>
          <a:solidFill>
            <a:srgbClr val="21A0A0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1732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詞編碼 (bi-LSTM)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17320" y="1810512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2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每個詞嵌入後過雙向 LSTM，hₜ = [→hₜ , ←hₜ]，融合前後文。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13232" y="2670048"/>
            <a:ext cx="548640" cy="548640"/>
          </a:xfrm>
          <a:prstGeom prst="ellipse">
            <a:avLst/>
          </a:prstGeom>
          <a:solidFill>
            <a:srgbClr val="21A0A0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670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17320" y="26243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詞層級注意力 ×3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417320" y="301752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2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三個可訓練向量 f_m 對每個詞算 softmax，加權出 q^subj / q^loc / q^rel 三段 phrase embedding。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13232" y="3877056"/>
            <a:ext cx="548640" cy="548640"/>
          </a:xfrm>
          <a:prstGeom prst="ellipse">
            <a:avLst/>
          </a:prstGeom>
          <a:solidFill>
            <a:srgbClr val="21A0A0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38770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17320" y="383133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模組權重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17320" y="4224528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2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首尾 hidden 串接過 FC+softmax → [w_subj, w_loc, w_rel]，決定各模組貢獻度。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15200" y="1508760"/>
            <a:ext cx="41605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0" y="16459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詞注意力示意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98080" y="2194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woman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641080" y="2231136"/>
            <a:ext cx="1152144" cy="1097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Shape 19"/>
          <p:cNvSpPr/>
          <p:nvPr/>
        </p:nvSpPr>
        <p:spPr>
          <a:xfrm>
            <a:off x="8641080" y="2377440"/>
            <a:ext cx="128016" cy="109728"/>
          </a:xfrm>
          <a:prstGeom prst="rect">
            <a:avLst/>
          </a:prstGeom>
          <a:solidFill>
            <a:srgbClr val="21A0A0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0" y="2651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641080" y="2688336"/>
            <a:ext cx="256032" cy="1097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4" name="Shape 22"/>
          <p:cNvSpPr/>
          <p:nvPr/>
        </p:nvSpPr>
        <p:spPr>
          <a:xfrm>
            <a:off x="8641080" y="2834640"/>
            <a:ext cx="128016" cy="109728"/>
          </a:xfrm>
          <a:prstGeom prst="rect">
            <a:avLst/>
          </a:prstGeom>
          <a:solidFill>
            <a:srgbClr val="21A0A0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0" y="31089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641080" y="3145536"/>
            <a:ext cx="1216152" cy="1097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Shape 25"/>
          <p:cNvSpPr/>
          <p:nvPr/>
        </p:nvSpPr>
        <p:spPr>
          <a:xfrm>
            <a:off x="8641080" y="3291840"/>
            <a:ext cx="64008" cy="109728"/>
          </a:xfrm>
          <a:prstGeom prst="rect">
            <a:avLst/>
          </a:prstGeom>
          <a:solidFill>
            <a:srgbClr val="21A0A0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0" y="3566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641080" y="3602736"/>
            <a:ext cx="128016" cy="1097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0" name="Shape 28"/>
          <p:cNvSpPr/>
          <p:nvPr/>
        </p:nvSpPr>
        <p:spPr>
          <a:xfrm>
            <a:off x="8641080" y="3749040"/>
            <a:ext cx="512064" cy="109728"/>
          </a:xfrm>
          <a:prstGeom prst="rect">
            <a:avLst/>
          </a:prstGeom>
          <a:solidFill>
            <a:srgbClr val="21A0A0"/>
          </a:solidFill>
          <a:ln/>
        </p:spPr>
      </p:sp>
      <p:sp>
        <p:nvSpPr>
          <p:cNvPr id="31" name="Text 29"/>
          <p:cNvSpPr/>
          <p:nvPr/>
        </p:nvSpPr>
        <p:spPr>
          <a:xfrm>
            <a:off x="7498080" y="40233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left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641080" y="4059936"/>
            <a:ext cx="64008" cy="1097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3" name="Shape 31"/>
          <p:cNvSpPr/>
          <p:nvPr/>
        </p:nvSpPr>
        <p:spPr>
          <a:xfrm>
            <a:off x="8641080" y="4206240"/>
            <a:ext cx="1216152" cy="109728"/>
          </a:xfrm>
          <a:prstGeom prst="rect">
            <a:avLst/>
          </a:prstGeom>
          <a:solidFill>
            <a:srgbClr val="21A0A0"/>
          </a:solidFill>
          <a:ln/>
        </p:spPr>
      </p:sp>
      <p:sp>
        <p:nvSpPr>
          <p:cNvPr id="34" name="Text 32"/>
          <p:cNvSpPr/>
          <p:nvPr/>
        </p:nvSpPr>
        <p:spPr>
          <a:xfrm>
            <a:off x="7498080" y="4526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■ </a:t>
            </a:r>
            <a:pPr algn="ctr"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subject  </a:t>
            </a:r>
            <a:pPr algn="ctr" indent="0" marL="0">
              <a:buNone/>
            </a:pPr>
            <a:r>
              <a:rPr lang="en-US" sz="1100" b="1" dirty="0">
                <a:solidFill>
                  <a:srgbClr val="21A0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■ </a:t>
            </a:r>
            <a:pPr algn="ctr"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location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13232" y="5074920"/>
            <a:ext cx="10744200" cy="960120"/>
          </a:xfrm>
          <a:prstGeom prst="rect">
            <a:avLst/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5321808"/>
            <a:ext cx="457200" cy="45720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1600200" y="5138928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2B70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為何重要：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這個拆分完全是端到端「學」出來的，不靠外部語法分析器。實驗顯示比接外部模板 parser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5FD0C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高約 5%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(parser 會犯錯且錯誤會傳遞)。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MAttNet · CVPR 2018 · 論文導讀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713232"/>
          </a:xfrm>
          <a:prstGeom prst="rect">
            <a:avLst/>
          </a:prstGeom>
          <a:solidFill>
            <a:srgbClr val="21A0A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754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VISION SIDE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94944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三個視覺模組：各司其職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13232" y="1508760"/>
            <a:ext cx="3456432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508760"/>
            <a:ext cx="3456432" cy="105156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8308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27632" y="1709928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Subject 模組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627632" y="2130552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FE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框內注意力 (in-box)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005840" y="2834640"/>
            <a:ext cx="290779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屬性預測：C3+C4 → 1×1 conv，加權 BCE 平衡長尾屬性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Phrase-guided 注意力池化：用 q^subj 在 14×14 網格挑相關部位 (如「衣服」)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解決「是什麼、什麼顏色」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79976" y="1508760"/>
            <a:ext cx="3456432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79976" y="1508760"/>
            <a:ext cx="3456432" cy="1051560"/>
          </a:xfrm>
          <a:prstGeom prst="rect">
            <a:avLst/>
          </a:prstGeom>
          <a:solidFill>
            <a:srgbClr val="21A0A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584" y="178308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94376" y="1709928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Location 模組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5294376" y="2130552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FE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絕對 + 相對位置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4672584" y="2834640"/>
            <a:ext cx="290779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絕對位置：5 維向量 (左上、右下座標 + 面積比)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相對位置 (dif)：周圍 5 個同類物件的位移與面積比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消融中單項貢獻最大 (+2.4pp)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046720" y="1508760"/>
            <a:ext cx="3456432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46720" y="1508760"/>
            <a:ext cx="3456432" cy="1051560"/>
          </a:xfrm>
          <a:prstGeom prst="rect">
            <a:avLst/>
          </a:prstGeom>
          <a:solidFill>
            <a:srgbClr val="12345C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178308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961120" y="1709928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Relationship 模組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961120" y="2130552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FE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框外注意力 (out-of-box)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8339328" y="2834640"/>
            <a:ext cx="290779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看周圍 5 個任意類別鄰居 (外觀 + 位移)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弱監督 MIL：不知指哪個鄰居 → 對所有鄰居取 max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2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解決「桌子旁邊的狗」這類關係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MAttNet · CVPR 2018 · 論文導讀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713232"/>
          </a:xfrm>
          <a:prstGeom prst="rect">
            <a:avLst/>
          </a:prstGeom>
          <a:solidFill>
            <a:srgbClr val="21A0A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754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SCORING &amp; TRAINING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94944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匹配函數與損失：如何打分、如何訓練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13232" y="1554480"/>
            <a:ext cx="52120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830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0136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匹配函數 F (三模組共用)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23317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2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視覺特徵與語言 phrase 各過一個 MLP，投影到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1A0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共同語意空間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2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L2 normalize → 取內積當匹配分數。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60120" y="3154680"/>
            <a:ext cx="4709160" cy="384048"/>
          </a:xfrm>
          <a:prstGeom prst="rect">
            <a:avLst/>
          </a:prstGeom>
          <a:solidFill>
            <a:srgbClr val="EAF1F4"/>
          </a:solidFill>
          <a:ln/>
        </p:spPr>
      </p:sp>
      <p:sp>
        <p:nvSpPr>
          <p:cNvPr id="10" name="Text 7"/>
          <p:cNvSpPr/>
          <p:nvPr/>
        </p:nvSpPr>
        <p:spPr>
          <a:xfrm>
            <a:off x="960120" y="3154680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⟨ L2(MLPᵥ(ṽ)) , L2(MLP_q(q)) ⟩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45352" y="1554480"/>
            <a:ext cx="52120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78308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40880" y="180136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Ranking Loss (兩個 hard negative)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492240" y="23317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2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每個正配對 (o_i, r_i) 配兩個負例：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同物件配錯句子 r_j     • 同句子配錯物件 o_k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2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要求正配對分數高出負例至少一個 margin Δ。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713232" y="3886200"/>
            <a:ext cx="10744200" cy="685800"/>
          </a:xfrm>
          <a:prstGeom prst="rect">
            <a:avLst/>
          </a:prstGeom>
          <a:solidFill>
            <a:srgbClr val="12345C"/>
          </a:solidFill>
          <a:ln/>
        </p:spPr>
      </p:sp>
      <p:sp>
        <p:nvSpPr>
          <p:cNvPr id="16" name="Text 12"/>
          <p:cNvSpPr/>
          <p:nvPr/>
        </p:nvSpPr>
        <p:spPr>
          <a:xfrm>
            <a:off x="713232" y="38862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總損失：  L = L_subj^attr  (屬性預測)  +  L_rank  (排序)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713232" y="4846320"/>
            <a:ext cx="10744200" cy="1188720"/>
          </a:xfrm>
          <a:prstGeom prst="rect">
            <a:avLst/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5193792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493776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2B70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弱監督的威力：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整套系統——詞注意力、模組權重、框內空間注意力、框外鄰居 MIL——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5FD0C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全部僅靠「物件–表達式配對」端到端訓練。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沒有人標哪個字屬於哪模組、注意力該看哪——這些都自動湧現並帶來可解釋性。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MAttNet · CVPR 2018 · 論文導讀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713232"/>
          </a:xfrm>
          <a:prstGeom prst="rect">
            <a:avLst/>
          </a:prstGeom>
          <a:solidFill>
            <a:srgbClr val="21A0A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754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DATASETS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94944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三個評測資料集 (皆建於 MS COCO)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1554480"/>
          <a:ext cx="107442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103120"/>
                <a:gridCol w="1828800"/>
                <a:gridCol w="1645920"/>
                <a:gridCol w="31546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資料集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收集方式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平均句長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同類物件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特點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A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RefCOCO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A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互動遊戲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A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~3.5 詞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A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3.9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A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句子短，常用位置詞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A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RefCOCO+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A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互動遊戲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A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~3.5 詞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A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3.9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A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禁絕對位置詞 → 逼模型靠外觀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A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RefCOCOg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A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非互動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A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~8.4 詞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A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1.63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A3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句子長，常描述關係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13232" y="4297680"/>
            <a:ext cx="5257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13232" y="4297680"/>
            <a:ext cx="525780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42976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testA</a:t>
            </a:r>
            <a:endParaRPr lang="en-US" sz="16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4370832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49377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2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含多個「人」的影像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2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考驗區分相似的人 (外觀細節)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199632" y="4297680"/>
            <a:ext cx="5257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199632" y="4297680"/>
            <a:ext cx="5257800" cy="502920"/>
          </a:xfrm>
          <a:prstGeom prst="rect">
            <a:avLst/>
          </a:prstGeom>
          <a:solidFill>
            <a:srgbClr val="21A0A0"/>
          </a:solidFill>
          <a:ln/>
        </p:spPr>
      </p:sp>
      <p:sp>
        <p:nvSpPr>
          <p:cNvPr id="13" name="Text 9"/>
          <p:cNvSpPr/>
          <p:nvPr/>
        </p:nvSpPr>
        <p:spPr>
          <a:xfrm>
            <a:off x="6355080" y="42976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testB</a:t>
            </a:r>
            <a:endParaRPr lang="en-US" sz="16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4370832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55080" y="49377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2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含多個「其他類別」物件的影像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2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考驗區分各式物件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MAttNet · CVPR 2018 · 論文導讀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713232"/>
          </a:xfrm>
          <a:prstGeom prst="rect">
            <a:avLst/>
          </a:prstGeom>
          <a:solidFill>
            <a:srgbClr val="21A0A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754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MAIN RESULTS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94944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主結果：大幅領先當時 SOTA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13232" y="13716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 GT 候選框，準確率 (%)。對照當時最強前作 Speaker+Listener+Reinforcer (RefCOCO val ≈ 79.6)，MAttNet 領先約 10pp。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13232" y="2011680"/>
          <a:ext cx="69494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001000" y="2148840"/>
            <a:ext cx="345643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001000" y="2148840"/>
            <a:ext cx="109728" cy="12070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8275320" y="2258568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85.7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9921240" y="2258568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RefCOCO val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準確率 (%)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001000" y="3474720"/>
            <a:ext cx="345643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001000" y="3474720"/>
            <a:ext cx="109728" cy="1207008"/>
          </a:xfrm>
          <a:prstGeom prst="rect">
            <a:avLst/>
          </a:prstGeom>
          <a:solidFill>
            <a:srgbClr val="21A0A0"/>
          </a:solidFill>
          <a:ln/>
        </p:spPr>
      </p:sp>
      <p:sp>
        <p:nvSpPr>
          <p:cNvPr id="13" name="Text 10"/>
          <p:cNvSpPr/>
          <p:nvPr/>
        </p:nvSpPr>
        <p:spPr>
          <a:xfrm>
            <a:off x="8275320" y="3584448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A0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~10pp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9921240" y="3584448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領先當時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SOTA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001000" y="4800600"/>
            <a:ext cx="345643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001000" y="4800600"/>
            <a:ext cx="109728" cy="1207008"/>
          </a:xfrm>
          <a:prstGeom prst="rect">
            <a:avLst/>
          </a:prstGeom>
          <a:solidFill>
            <a:srgbClr val="12345C"/>
          </a:solidFill>
          <a:ln/>
        </p:spPr>
      </p:sp>
      <p:sp>
        <p:nvSpPr>
          <p:cNvPr id="17" name="Text 14"/>
          <p:cNvSpPr/>
          <p:nvPr/>
        </p:nvSpPr>
        <p:spPr>
          <a:xfrm>
            <a:off x="8275320" y="4910328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34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3600" dirty="0"/>
          </a:p>
        </p:txBody>
      </p:sp>
      <p:sp>
        <p:nvSpPr>
          <p:cNvPr id="18" name="Text 15"/>
          <p:cNvSpPr/>
          <p:nvPr/>
        </p:nvSpPr>
        <p:spPr>
          <a:xfrm>
            <a:off x="9921240" y="4910328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資料集全部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刷新紀錄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MAttNet · CVPR 2018 · 論文導讀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713232"/>
          </a:xfrm>
          <a:prstGeom prst="rect">
            <a:avLst/>
          </a:prstGeom>
          <a:solidFill>
            <a:srgbClr val="21A0A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754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ABLATION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94944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消融分析：每個設計值多少分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13232" y="13716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RefCOCO val 上逐步堆疊模組 (res101-frcn)。相對位置 (loc dif) 與框內注意力 (attn) 貢獻最大。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13232" y="1965960"/>
          <a:ext cx="73152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275320" y="1965960"/>
            <a:ext cx="3182112" cy="4114800"/>
          </a:xfrm>
          <a:prstGeom prst="rect">
            <a:avLst/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503920" y="2148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B70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關鍵發現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503920" y="2697480"/>
            <a:ext cx="2743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模組化本身就贏 baseline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FE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loc(dif) 相對位置 +2.4pp，單項最大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FE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attn 框內注意力 +2.1pp，對「人」類別尤其有效</a:t>
            </a:r>
            <a:endParaRPr lang="en-US" sz="125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50" b="1" dirty="0">
                <a:solidFill>
                  <a:srgbClr val="5FD0C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學出來的軟 parser 勝外部模板 parser 約 5%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MAttNet · CVPR 2018 · 論文導讀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713232"/>
          </a:xfrm>
          <a:prstGeom prst="rect">
            <a:avLst/>
          </a:prstGeom>
          <a:solidFill>
            <a:srgbClr val="21A0A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754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EXTENSIONS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94944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延伸：像素分割 + 全自動偵測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13232" y="137160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 Mask R-CNN：把選中的框餵給 mask 分支 (理解與分割「解耦」)。像素精度幾乎翻倍。</a:t>
            </a:r>
            <a:endParaRPr lang="en-US" sz="12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2011680"/>
          <a:ext cx="68580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726680" y="2011680"/>
            <a:ext cx="3730752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26680" y="2011680"/>
            <a:ext cx="3730752" cy="548640"/>
          </a:xfrm>
          <a:prstGeom prst="rect">
            <a:avLst/>
          </a:prstGeom>
          <a:solidFill>
            <a:srgbClr val="12345C"/>
          </a:solidFill>
          <a:ln/>
        </p:spPr>
      </p:sp>
      <p:sp>
        <p:nvSpPr>
          <p:cNvPr id="9" name="Text 6"/>
          <p:cNvSpPr/>
          <p:nvPr/>
        </p:nvSpPr>
        <p:spPr>
          <a:xfrm>
            <a:off x="7863840" y="20116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全自動偵測 (用偵測框非 GT)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955280" y="2697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RefCOCO (res101-mrcn)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955280" y="3108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val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326880" y="3108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1A0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76.65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955280" y="3657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testA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326880" y="3657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1A0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81.14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955280" y="4206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testB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326880" y="4206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1A0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69.99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7955280" y="4846320"/>
            <a:ext cx="3291840" cy="1005840"/>
          </a:xfrm>
          <a:prstGeom prst="rect">
            <a:avLst/>
          </a:prstGeom>
          <a:solidFill>
            <a:srgbClr val="EAF1F4"/>
          </a:solidFill>
          <a:ln/>
        </p:spPr>
      </p:sp>
      <p:sp>
        <p:nvSpPr>
          <p:cNvPr id="18" name="Text 15"/>
          <p:cNvSpPr/>
          <p:nvPr/>
        </p:nvSpPr>
        <p:spPr>
          <a:xfrm>
            <a:off x="8092440" y="49377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模組改善趨勢與用 GT 框時一致；Mask R-CNN 偵測品質優於 Faster R-CNN。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MAttNet · CVPR 2018 · 論文導讀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713232"/>
          </a:xfrm>
          <a:prstGeom prst="rect">
            <a:avLst/>
          </a:prstGeom>
          <a:solidFill>
            <a:srgbClr val="21A0A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754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CONTRIBUTIONS &amp; LIMITS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94944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貢獻與侷限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13232" y="1554480"/>
            <a:ext cx="525780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554480"/>
            <a:ext cx="5257800" cy="566928"/>
          </a:xfrm>
          <a:prstGeom prst="rect">
            <a:avLst/>
          </a:prstGeom>
          <a:solidFill>
            <a:srgbClr val="21A0A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627632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55448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主要貢獻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60120" y="2331720"/>
            <a:ext cx="4800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✓"/>
            </a:pPr>
            <a:r>
              <a:rPr lang="en-US" sz="1350" dirty="0">
                <a:solidFill>
                  <a:srgbClr val="1A2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模組化分解：明確拆成 subject / location / relationship 三模組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✓"/>
            </a:pPr>
            <a:r>
              <a:rPr lang="en-US" sz="1350" dirty="0">
                <a:solidFill>
                  <a:srgbClr val="1A2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雙重注意力：語言端 (詞+模組權重) + 視覺端 (框內+框外)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✓"/>
            </a:pPr>
            <a:r>
              <a:rPr lang="en-US" sz="1350" dirty="0">
                <a:solidFill>
                  <a:srgbClr val="1A2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端到端弱監督：注意力與分工自動湧現，附帶可解釋性</a:t>
            </a: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✓"/>
            </a:pPr>
            <a:r>
              <a:rPr lang="en-US" sz="1350" dirty="0">
                <a:solidFill>
                  <a:srgbClr val="1A2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SOTA + 通用：bbox 與 pixel 兩層級、三資料集全面刷新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199632" y="1554480"/>
            <a:ext cx="525780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99632" y="1554480"/>
            <a:ext cx="5257800" cy="566928"/>
          </a:xfrm>
          <a:prstGeom prst="rect">
            <a:avLst/>
          </a:prstGeom>
          <a:solidFill>
            <a:srgbClr val="C062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627632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03720" y="155448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侷限 (也是後續研究的縫)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446520" y="2331720"/>
            <a:ext cx="4800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b="1" dirty="0">
                <a:solidFill>
                  <a:srgbClr val="A23E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預設目標存在且唯一：強制輸出最高分框，無「棄答 / 多目標」概念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A2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依賴候選框品質：two-stage 排序，效能受偵測器召回限制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A2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固定三類模組：對巢狀 / 多跳關係的表達力有限</a:t>
            </a: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1A2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誤差來源：訓練資料稀疏、表達式歧義、偵測失敗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MAttNet · CVPR 2018 · 論文導讀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1A0A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37160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7452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FD0C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TAKEAWAY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828800" y="1737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一句話總結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MAttNet 把一句指代描述「軟性地」拆成三塊——</a:t>
            </a:r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5FD0C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主體外觀 / 絕對位置 / 與鄰居的關係</a:t>
            </a:r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——分別交給三個視覺模組各算匹配分數，再用學出來的權重動態合併。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14400" y="42976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FE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「分而治之」比把整句揉成單一向量好很多 (RefCOCO 系列領先約 10pp)，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FE3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且天生具備可解釋性：看得出每個字、每塊影像區域對哪個模組起了作用。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14400" y="5486400"/>
            <a:ext cx="3017520" cy="640080"/>
          </a:xfrm>
          <a:prstGeom prst="roundRect">
            <a:avLst>
              <a:gd name="adj" fmla="val 50000"/>
            </a:avLst>
          </a:prstGeom>
          <a:solidFill>
            <a:srgbClr val="12345C"/>
          </a:solidFill>
          <a:ln w="19050">
            <a:solidFill>
              <a:srgbClr val="21A0A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54864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D0C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模組化分解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206240" y="5486400"/>
            <a:ext cx="3017520" cy="640080"/>
          </a:xfrm>
          <a:prstGeom prst="roundRect">
            <a:avLst>
              <a:gd name="adj" fmla="val 50000"/>
            </a:avLst>
          </a:prstGeom>
          <a:solidFill>
            <a:srgbClr val="12345C"/>
          </a:solidFill>
          <a:ln w="19050">
            <a:solidFill>
              <a:srgbClr val="21A0A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06240" y="54864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D0C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雙重注意力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498080" y="5486400"/>
            <a:ext cx="3017520" cy="640080"/>
          </a:xfrm>
          <a:prstGeom prst="roundRect">
            <a:avLst>
              <a:gd name="adj" fmla="val 50000"/>
            </a:avLst>
          </a:prstGeom>
          <a:solidFill>
            <a:srgbClr val="12345C"/>
          </a:solidFill>
          <a:ln w="19050">
            <a:solidFill>
              <a:srgbClr val="21A0A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98080" y="54864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D0C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端到端弱監督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MAttNet 論文導讀</dc:title>
  <dc:subject>PptxGenJS Presentation</dc:subject>
  <dc:creator>kuo</dc:creator>
  <cp:lastModifiedBy>kuo</cp:lastModifiedBy>
  <cp:revision>1</cp:revision>
  <dcterms:created xsi:type="dcterms:W3CDTF">2026-06-18T05:36:25Z</dcterms:created>
  <dcterms:modified xsi:type="dcterms:W3CDTF">2026-06-18T05:36:25Z</dcterms:modified>
</cp:coreProperties>
</file>